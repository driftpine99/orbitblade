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576286cb2e4581" /><Relationship Type="http://schemas.openxmlformats.org/officeDocument/2006/relationships/extended-properties" Target="/docProps/app.xml" Id="Rbe9c31b63a214ad1" /><Relationship Type="http://schemas.openxmlformats.org/officeDocument/2006/relationships/officeDocument" Target="/ppt/presentation.xml" Id="Re8770550780b46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ac2a7cb6024fd1"/>
  </p:sldMasterIdLst>
  <p:notesMasterIdLst>
    <p:notesMasterId xmlns:r="http://schemas.openxmlformats.org/officeDocument/2006/relationships" r:id="R33d890b8dce24e74"/>
  </p:notesMasterIdLst>
  <p:sldIdLst>
    <p:sldId xmlns:r="http://schemas.openxmlformats.org/officeDocument/2006/relationships" id="256" r:id="R581a9af93bc8428b"/>
    <p:sldId xmlns:r="http://schemas.openxmlformats.org/officeDocument/2006/relationships" id="257" r:id="Ra4faad0ecb9c4993"/>
    <p:sldId xmlns:r="http://schemas.openxmlformats.org/officeDocument/2006/relationships" id="258" r:id="R200ae26a670b4f45"/>
    <p:sldId xmlns:r="http://schemas.openxmlformats.org/officeDocument/2006/relationships" id="259" r:id="R211ec9f710804d70"/>
    <p:sldId xmlns:r="http://schemas.openxmlformats.org/officeDocument/2006/relationships" id="260" r:id="R5e0d70ceb77946b7"/>
    <p:sldId xmlns:r="http://schemas.openxmlformats.org/officeDocument/2006/relationships" id="261" r:id="R9e56eb8715fc4e2f"/>
    <p:sldId xmlns:r="http://schemas.openxmlformats.org/officeDocument/2006/relationships" id="262" r:id="Recf53cdcbddc4ff1"/>
    <p:sldId xmlns:r="http://schemas.openxmlformats.org/officeDocument/2006/relationships" id="263" r:id="R9a5ff104820b4ac2"/>
    <p:sldId xmlns:r="http://schemas.openxmlformats.org/officeDocument/2006/relationships" id="264" r:id="R9055d4453b1a4d96"/>
    <p:sldId xmlns:r="http://schemas.openxmlformats.org/officeDocument/2006/relationships" id="265" r:id="Re1d0934e6d214f69"/>
    <p:sldId xmlns:r="http://schemas.openxmlformats.org/officeDocument/2006/relationships" id="266" r:id="Rdd0f14758fea47e2"/>
    <p:sldId xmlns:r="http://schemas.openxmlformats.org/officeDocument/2006/relationships" id="267" r:id="R94618acd4b194251"/>
    <p:sldId xmlns:r="http://schemas.openxmlformats.org/officeDocument/2006/relationships" id="268" r:id="Rf5a3f8dfafb942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259f689cf74243" /><Relationship Type="http://schemas.openxmlformats.org/officeDocument/2006/relationships/slideMaster" Target="/ppt/slideMasters/slideMaster1.xml" Id="R6bac2a7cb6024fd1" /><Relationship Type="http://schemas.openxmlformats.org/officeDocument/2006/relationships/notesMaster" Target="/ppt/notesMasters/notesMaster1.xml" Id="R33d890b8dce24e74" /><Relationship Type="http://schemas.openxmlformats.org/officeDocument/2006/relationships/presProps" Target="/ppt/presProps.xml" Id="Rd61f9cebc4084e2a" /><Relationship Type="http://schemas.openxmlformats.org/officeDocument/2006/relationships/tableStyles" Target="/ppt/tableStyles.xml" Id="Rfa78b829ad5f4cff" /><Relationship Type="http://schemas.openxmlformats.org/officeDocument/2006/relationships/slide" Target="/ppt/slides/slide1.xml" Id="R581a9af93bc8428b" /><Relationship Type="http://schemas.openxmlformats.org/officeDocument/2006/relationships/slide" Target="/ppt/slides/slide2.xml" Id="Ra4faad0ecb9c4993" /><Relationship Type="http://schemas.openxmlformats.org/officeDocument/2006/relationships/slide" Target="/ppt/slides/slide3.xml" Id="R200ae26a670b4f45" /><Relationship Type="http://schemas.openxmlformats.org/officeDocument/2006/relationships/slide" Target="/ppt/slides/slide4.xml" Id="R211ec9f710804d70" /><Relationship Type="http://schemas.openxmlformats.org/officeDocument/2006/relationships/slide" Target="/ppt/slides/slide5.xml" Id="R5e0d70ceb77946b7" /><Relationship Type="http://schemas.openxmlformats.org/officeDocument/2006/relationships/slide" Target="/ppt/slides/slide6.xml" Id="R9e56eb8715fc4e2f" /><Relationship Type="http://schemas.openxmlformats.org/officeDocument/2006/relationships/slide" Target="/ppt/slides/slide7.xml" Id="Recf53cdcbddc4ff1" /><Relationship Type="http://schemas.openxmlformats.org/officeDocument/2006/relationships/slide" Target="/ppt/slides/slide8.xml" Id="R9a5ff104820b4ac2" /><Relationship Type="http://schemas.openxmlformats.org/officeDocument/2006/relationships/slide" Target="/ppt/slides/slide9.xml" Id="R9055d4453b1a4d96" /><Relationship Type="http://schemas.openxmlformats.org/officeDocument/2006/relationships/slide" Target="/ppt/slides/slide10.xml" Id="Re1d0934e6d214f69" /><Relationship Type="http://schemas.openxmlformats.org/officeDocument/2006/relationships/slide" Target="/ppt/slides/slide11.xml" Id="Rdd0f14758fea47e2" /><Relationship Type="http://schemas.openxmlformats.org/officeDocument/2006/relationships/slide" Target="/ppt/slides/slide12.xml" Id="R94618acd4b194251" /><Relationship Type="http://schemas.openxmlformats.org/officeDocument/2006/relationships/slide" Target="/ppt/slides/slide13.xml" Id="Rf5a3f8dfafb942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298d0cf0854e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034b09691e47c3" /><Relationship Type="http://schemas.openxmlformats.org/officeDocument/2006/relationships/notesMaster" Target="/ppt/notesMasters/notesMaster1.xml" Id="R6fd7fa89599048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c5c0c8967a4d94" /><Relationship Type="http://schemas.openxmlformats.org/officeDocument/2006/relationships/notesMaster" Target="/ppt/notesMasters/notesMaster1.xml" Id="Ra262298fa28945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6a87a803724212" /><Relationship Type="http://schemas.openxmlformats.org/officeDocument/2006/relationships/notesMaster" Target="/ppt/notesMasters/notesMaster1.xml" Id="Rddd9f7fa036849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2afd3b77244d1d" /><Relationship Type="http://schemas.openxmlformats.org/officeDocument/2006/relationships/notesMaster" Target="/ppt/notesMasters/notesMaster1.xml" Id="R93fe173288b945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bc4781dab843c1" /><Relationship Type="http://schemas.openxmlformats.org/officeDocument/2006/relationships/notesMaster" Target="/ppt/notesMasters/notesMaster1.xml" Id="Ra1b59dcf1f704a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47a814aed1435d" /><Relationship Type="http://schemas.openxmlformats.org/officeDocument/2006/relationships/notesMaster" Target="/ppt/notesMasters/notesMaster1.xml" Id="Ra9259042990e48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c688b4ac564afd" /><Relationship Type="http://schemas.openxmlformats.org/officeDocument/2006/relationships/notesMaster" Target="/ppt/notesMasters/notesMaster1.xml" Id="Refc1623f360240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0b46ec2c8d450b" /><Relationship Type="http://schemas.openxmlformats.org/officeDocument/2006/relationships/notesMaster" Target="/ppt/notesMasters/notesMaster1.xml" Id="R698622d7b89e46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36c52d13e6455e" /><Relationship Type="http://schemas.openxmlformats.org/officeDocument/2006/relationships/notesMaster" Target="/ppt/notesMasters/notesMaster1.xml" Id="R26ae9e15475f4a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734814730b4b70" /><Relationship Type="http://schemas.openxmlformats.org/officeDocument/2006/relationships/notesMaster" Target="/ppt/notesMasters/notesMaster1.xml" Id="R8cce650ab5e14d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0715ebbdb84922" /><Relationship Type="http://schemas.openxmlformats.org/officeDocument/2006/relationships/notesMaster" Target="/ppt/notesMasters/notesMaster1.xml" Id="R9dbf36bb7d3e46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cbedf563b34f8f" /><Relationship Type="http://schemas.openxmlformats.org/officeDocument/2006/relationships/notesMaster" Target="/ppt/notesMasters/notesMaster1.xml" Id="R512fd5ba594148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962c8b44004a6e" /><Relationship Type="http://schemas.openxmlformats.org/officeDocument/2006/relationships/notesMaster" Target="/ppt/notesMasters/notesMaster1.xml" Id="R0f6707eb518f49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Ziel der Präsentation: Zustimmung zu einem klareren v5-Grundsystem, bevor Code angepasst wird.</a:t>
            </a:r>
          </a:p>
          <a:p xmlns:a="http://schemas.openxmlformats.org/drawingml/2006/main">
            <a:r>
              <a:t>Die Klinge bleibt die gemeinsame Identität aller Charaktere; Vielfalt entsteht durch Haltung, Macht und Evolution.</a:t>
            </a:r>
          </a:p>
          <a:p xmlns:a="http://schemas.openxmlformats.org/drawingml/2006/main">
            <a:r>
              <a:t>Titelbild: mit OpenAI ImageGen für diese Konzeptpräsentation erzeugt.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Kernaussage: Der nächste Schritt ist ein konzeptioneller Rebuild des Baums, kein weiteres Verkleinern einzelner Buttons.</a:t>
            </a:r>
          </a:p>
          <a:p xmlns:a="http://schemas.openxmlformats.org/drawingml/2006/main">
            <a:r>
              <a:t>Die bestehende visuelle Verbesserung des Orbitbaums kann als Stilrichtung erhalten bleiben.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Interne Bestandsaufnahme der aktuellen v5-Implementierung.</a:t>
            </a:r>
          </a:p>
          <a:p xmlns:a="http://schemas.openxmlformats.org/drawingml/2006/main">
            <a:r>
              <a:t>Die Zahlen beschreiben die Komplexität, nicht die Qualität einzelner Fähigkeiten.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Übertrag auf Orbitblade: pro Stufe höchstens zwei verständliche Alternativen; jeder Kauf verändert Verhalten oder Spielgefühl.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https://www.destructoid.com/20-minutes-till-dawn-demo-impressions/</a:t>
            </a:r>
          </a:p>
          <a:p xmlns:a="http://schemas.openxmlformats.org/drawingml/2006/main">
            <a:r>
              <a:t>- https://www.supergiantgames.com/blog/hades-the-nighty-night-update-patch-notes/</a:t>
            </a:r>
          </a:p>
          <a:p xmlns:a="http://schemas.openxmlformats.org/drawingml/2006/main">
            <a:r>
              <a:t>- https://store.steampowered.com/app/2068280/Nordic_Ashes_Survivors_of_Ragnarok/</a:t>
            </a:r>
          </a:p>
          <a:p xmlns:a="http://schemas.openxmlformats.org/drawingml/2006/main">
            <a:r>
              <a:t>- https://news.blizzard.com/en-us/article/24267729/prepare-for-the-reckoning-lord-of-hatred-draws-near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Konzeptentscheidung: Die aktuell separat eingebaute Signaturfähigkeit auf Taste 3 wird in der späteren Umsetzung vollständig entfernt.</a:t>
            </a:r>
          </a:p>
          <a:p xmlns:a="http://schemas.openxmlformats.org/drawingml/2006/main">
            <a:r>
              <a:t>Supermächte werden als Endentwicklung der primären aktiven Macht erreichbar; dadurch wächst Macht ohne zusätzliche Bedienlast.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 Baum bleibt ein zusammenhängender Pfad. Die zwei wichtigen A/B-Entscheidungen sind Mutation und Charakterhaltung.</a:t>
            </a:r>
          </a:p>
          <a:p xmlns:a="http://schemas.openxmlformats.org/drawingml/2006/main">
            <a:r>
              <a:t>Zielgröße: 12–14 gleichzeitig vorhandene Knoten, insgesamt 14–16 ausgebbare Punkte im vollständigen Lauf.</a:t>
            </a:r>
          </a:p>
          <a:p xmlns:a="http://schemas.openxmlformats.org/drawingml/2006/main">
            <a:r>
              <a:t>Pro Reihe maximal zwei wählbare Optionen; keine horizontalen Scrollflächen und im Idealfall kein vertikales Scrollen.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Progressive Offenlegung reduziert die visuelle Last, ohne erworbene Entwicklung zu verstecken.</a:t>
            </a:r>
          </a:p>
          <a:p xmlns:a="http://schemas.openxmlformats.org/drawingml/2006/main">
            <a:r>
              <a:t>Die Rücknahme des letzten Kaufs verhindert Frust bei Fehlklicks, ohne ein kompliziertes Respec-System im Lauf zu eröffnen.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https://www.supergiantgames.com/blog/hades-the-nighty-night-update-patch-notes/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Balancing-Ziel, noch keine finale Zahl: etwa ein Upgrade alle 60–90 Sekunden in einem 19–23-minütigen Standardlauf.</a:t>
            </a:r>
          </a:p>
          <a:p xmlns:a="http://schemas.openxmlformats.org/drawingml/2006/main">
            <a:r>
              <a:t>Die genaue XP-Kurve wird erst nach Implementierung des neuen Pfads gegen reale Testläufe abgestimmt.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Charaktere unterscheiden sich auf drei Ebenen: Startpassiv, A/B-Haltung im Orbitpfad und optisch-mechanische Evolution.</a:t>
            </a:r>
          </a:p>
          <a:p xmlns:a="http://schemas.openxmlformats.org/drawingml/2006/main">
            <a:r>
              <a:t>Das gemeinsame Blade verhindert, dass Charaktervielfalt die Kernfantasie des Spiels verwässert.</a:t>
            </a:r>
          </a:p>
          <a:p xmlns:a="http://schemas.openxmlformats.org/drawingml/2006/main">
            <a:r>
              <a:t>Charakterbild: mit OpenAI ImageGen für diese Konzeptpräsentation erzeugt.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Interne Bestandsaufnahme der aktuellen Werkstattpreise und Käufe.</a:t>
            </a:r>
          </a:p>
          <a:p xmlns:a="http://schemas.openxmlformats.org/drawingml/2006/main">
            <a:r>
              <a:t>Ein vollständiger Standardlauf liefert grob genug Fragmente für einen größeren oder mehrere kleine Käufe; der Engpass ist deshalb weniger Tempo als Vielfalt.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Belohnungsregel: Ein gescheiterter Lauf erzeugt Fortschritt oder einen kleinen Kauf; ein vollständiger Lauf ein großes oder zwei bis drei kleine Projekte.</a:t>
            </a:r>
          </a:p>
          <a:p xmlns:a="http://schemas.openxmlformats.org/drawingml/2006/main">
            <a:r>
              <a:t>Blaupausen sollen nicht doppelt bestrafen: Das Finden schaltet sofort frei oder reduziert die Herstellung deutlich.</a:t>
            </a:r>
          </a:p>
          <a:p xmlns:a="http://schemas.openxmlformats.org/drawingml/2006/main">
            <a:r>
              <a:t>Kosmetik ist der natürliche spätere Monetarisierungsraum, wird aber erst nach Spielspaß und Retention konkretisiert.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https://www.supergiantgames.com/blog/hades-long-winter-update-patch-notes/</a:t>
            </a:r>
          </a:p>
          <a:p xmlns:a="http://schemas.openxmlformats.org/drawingml/2006/main">
            <a:r>
              <a:t>- https://arstechnica.com/gaming/2022/05/rogue-legacy-2-review-a-perfect-sequel-to-a-great-game/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Performance wird parallel nur auf offensichtliche Hotspots geprüft; der echte Gerätevergleich folgt nach dieser neuen Version.</a:t>
            </a:r>
          </a:p>
          <a:p xmlns:a="http://schemas.openxmlformats.org/drawingml/2006/main">
            <a:r>
              <a:t>Abnahmekriterien Phase 1: Baum ohne Scrollen nutzbar, Knoten ohne Klick verständlich, kein dritter Kampfbutton, keine Sackgassen.</a:t>
            </a:r>
          </a:p>
          <a:p xmlns:a="http://schemas.openxmlformats.org/drawingml/2006/main">
            <a:r>
              <a:t>Abnahmekriterien Phase 2: Build bis Welle 30 vollständig, aber nicht ausgeschöpft; Entscheidungen bleiben bis zum Ende interessant.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Entscheidungsvorschlag: Dieses Zielbild als neue v5-Basis freigeben und anschließend Phase 1 in Code umsetzen.</a:t>
            </a:r>
          </a:p>
          <a:p xmlns:a="http://schemas.openxmlformats.org/drawingml/2006/main">
            <a:r>
              <a:t>Nicht enthalten: konkrete Monetarisierung, finale Zahlenbalance und tiefer Performancevergleich.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5f0a43cf84c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fda86063c8426e" /><Relationship Type="http://schemas.openxmlformats.org/officeDocument/2006/relationships/slideLayout" Target="/ppt/slideLayouts/slideLayout1.xml" Id="R7e08de0f48684e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08de0f48684e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2845c004f4091" /><Relationship Type="http://schemas.openxmlformats.org/officeDocument/2006/relationships/image" Target="/ppt/media/image.png" Id="Ra52b0108d1044959" /><Relationship Type="http://schemas.openxmlformats.org/officeDocument/2006/relationships/notesSlide" Target="/ppt/notesSlides/notesSlide1.xml" Id="Rff1da38894a445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4a00fa2404b63" /><Relationship Type="http://schemas.openxmlformats.org/officeDocument/2006/relationships/notesSlide" Target="/ppt/notesSlides/notesSlide2.xml" Id="Ree4a1786208444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65b8e6a8c4bee" /><Relationship Type="http://schemas.openxmlformats.org/officeDocument/2006/relationships/notesSlide" Target="/ppt/notesSlides/notesSlide3.xml" Id="Rd32920e0065f4d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bf40191344361" /><Relationship Type="http://schemas.openxmlformats.org/officeDocument/2006/relationships/notesSlide" Target="/ppt/notesSlides/notesSlide4.xml" Id="R3f0d55f8453540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85db9b94345e8" /><Relationship Type="http://schemas.openxmlformats.org/officeDocument/2006/relationships/notesSlide" Target="/ppt/notesSlides/notesSlide5.xml" Id="R83652281fdc74d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c3c724a1a4081" /><Relationship Type="http://schemas.openxmlformats.org/officeDocument/2006/relationships/notesSlide" Target="/ppt/notesSlides/notesSlide6.xml" Id="R07a0820b3b0e46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146cbb02f4b4a" /><Relationship Type="http://schemas.openxmlformats.org/officeDocument/2006/relationships/notesSlide" Target="/ppt/notesSlides/notesSlide7.xml" Id="R3309170fa0d744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c89f9c013470e" /><Relationship Type="http://schemas.openxmlformats.org/officeDocument/2006/relationships/notesSlide" Target="/ppt/notesSlides/notesSlide8.xml" Id="Re9ecf8067c1e43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d95e90b0b4f39" /><Relationship Type="http://schemas.openxmlformats.org/officeDocument/2006/relationships/image" Target="/ppt/media/image2.png" Id="R21629d4a977d4bb6" /><Relationship Type="http://schemas.openxmlformats.org/officeDocument/2006/relationships/notesSlide" Target="/ppt/notesSlides/notesSlide9.xml" Id="R52fcc9572b5843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6f125384f4292" /><Relationship Type="http://schemas.openxmlformats.org/officeDocument/2006/relationships/notesSlide" Target="/ppt/notesSlides/notesSlide10.xml" Id="R5fea38b02d9643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0db4a32da4680" /><Relationship Type="http://schemas.openxmlformats.org/officeDocument/2006/relationships/notesSlide" Target="/ppt/notesSlides/notesSlide11.xml" Id="R5f8b89b10eb845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ae8a0c1e441b7" /><Relationship Type="http://schemas.openxmlformats.org/officeDocument/2006/relationships/notesSlide" Target="/ppt/notesSlides/notesSlide12.xml" Id="R0617be2b29d54f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7de36e5cd40d5" /><Relationship Type="http://schemas.openxmlformats.org/officeDocument/2006/relationships/notesSlide" Target="/ppt/notesSlides/notesSlide13.xml" Id="R9599f39ccafd4d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2E0AD1D-61A3-4AD5-822F-3BE810BA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E395136-2CD3-4A37-A54A-92B41172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ORBITBLADE V5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F8BAEBD1-7330-4DD7-9651-55E4CC7B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6B29B07F-1616-47D6-9919-0C551C90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Der schlanke
Orbitpfad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Neues Grundkonzept für Laufprogression, Charaktere und Werkstatt.
Spielspaß zuerst. Langzeitmotivation als zweites System.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b0108d1044959"/>
          <a:srcRect xmlns:a="http://schemas.openxmlformats.org/drawingml/2006/main" l="22173" t="0" r="22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0C4F0-5B8E-46A4-91DD-7D771C18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KONZEPT · 12.08.2026</a:t>
            </a:r>
          </a:p>
        </p:txBody>
      </p:sp>
    </p:spTree>
    <p:extLst>
      <p:ext uri="{BB962C8B-B14F-4D97-AF65-F5344CB8AC3E}">
        <p14:creationId xmlns:p14="http://schemas.microsoft.com/office/powerpoint/2010/main" val="11670198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D885AF1-A95A-4613-AB8A-376C999C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FB43583-767A-439F-A1DE-F007DFDD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Die Richtung stimmt — die Struktur ist noch zu schwer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64CC0A84-A8B5-44B3-B466-CE660BA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3F81A56-5979-4B32-90C6-F8F8D0D7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HEUTE
Viele Knoten, kleine Texte, drei Logiken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69946B6-9933-4691-93FF-C89631E1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Buffs erst nach Klick verständlich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Signatur auf Taste 3 ohne Baumbezug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Werkstatt endet gefühlt zu früh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C2790B55-7510-41FC-B588-EDDEF170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09AAB03-81E6-46DB-9C3D-122B5476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ZIEL
Wenige Entscheidungen, sofort sichtbare Wirkung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D3B8795-80DB-4CCC-A4BE-1300E60A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Effekt direkt am Symbol lesbar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Supermacht transformiert Aktiv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Werkstatt schaltet Möglichkeiten frei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85EF88B-853F-4F13-9F70-B7C33A17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AUSGANGSLAGE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Der Orbitbaum sieht besser aus, verlangt aber weiterhin zu viel Lesen, Anklicken und Planen. Gleichzeitig erzeugt die Werkstatt nach den ersten Käufen zu wenig neue Vorfreude.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Empfehlung: nicht weiter polieren, sondern beide Systeme um einen gemeinsamen, einfachen Loop neu ordnen.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1DD5C-6C56-4D4C-8E00-9A93D5C2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34C22-2BA2-406F-9AAE-076EA760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464"/>
          </a:solidFill>
          <a:ln xmlns:a="http://schemas.openxmlformats.org/drawingml/2006/main" w="0">
            <a:solidFill>
              <a:srgbClr val="E464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62F30-D657-4B29-B104-51301B4D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38475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BF87"/>
          </a:solidFill>
          <a:ln xmlns:a="http://schemas.openxmlformats.org/drawingml/2006/main" w="0">
            <a:solidFill>
              <a:srgbClr val="4ABF8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FOCUS</a:t>
            </a:r>
          </a:p>
        </p:txBody>
      </p:sp>
    </p:spTree>
    <p:extLst>
      <p:ext uri="{BB962C8B-B14F-4D97-AF65-F5344CB8AC3E}">
        <p14:creationId xmlns:p14="http://schemas.microsoft.com/office/powerpoint/2010/main" val="21341165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7A4E3331-9D2D-4E4F-B6AA-1E7FF9D3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E7609A67-EB4F-4B39-AF12-1B3A414D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B8CC404-5805-4272-B43A-16786EB8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57AFE5BC-15F0-42A0-898D-A31C8FB4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39ECD1A4-6FAD-44C5-BEC6-2BA69010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Warum sich der aktuelle Baum größer anfühlt als der Lauf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D628DB6-6182-4E99-9512-1DA052FF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effektive Punkte
mit zwei Slots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F0C13D3-ED3C-413B-9849-A78BC9A9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parallele
Logikspuren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5A19158-D689-4F3F-AA4E-471A5796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sichtbare Knoten
plus Ränge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A6F6A7FB-2BAE-4327-9C00-DB10AC18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E4646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BC64466-51AA-4729-BF0E-0F0219C5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E5B95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40E7A49-6DFB-4242-9141-56F4AF04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5FECD7B-C767-4868-83FD-E5A5B798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IST-MESSUNG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Bei zwei aktiven Slots stehen effektiv mehr Punkte und Abhängigkeiten bereit, als ein normaler Lauf sinnvoll vermitteln kann. Wiederholränge und Mini-Texte verstärken das Gefühl von Verwaltung.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D6366-E22B-4557-8802-D89142A3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464"/>
          </a:solidFill>
          <a:ln xmlns:a="http://schemas.openxmlformats.org/drawingml/2006/main" w="0">
            <a:solidFill>
              <a:srgbClr val="E4646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63301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0EAAFC6-43D0-4904-A7D8-45F580F1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C63E125-522A-451C-BA8D-E12AABFD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Bewährte Muster: kleine Wahlräume, große Konsequenzen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B97A8DC9-78B2-431B-9ACE-23767F1C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226A54B-5B52-433F-868E-7ADF4C9B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Hades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Paarweise exklusive Talente und schrittweise Enthüllung statt Vollansicht.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29083D45-1262-4099-92CE-12606788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100F5A9-877B-4E84-AD7C-CB088B95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20 Minutes Till Dawn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Kurze Upgrade-Ketten: Basis → zwei Richtungen → starke Spitze.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D7C14CC3-0E13-435C-BD50-8DC00A00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05EAA349-B381-4E46-BBB0-C7FF44EB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Diablo IV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Passive Füllknoten wurden reduziert, damit aktive Spielveränderungen dominieren.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B9351670-25BC-4A33-990E-DBEF5EC6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F4818E1E-988D-4DD6-B439-9D51A84C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Nordic Ashes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Charakterbezogene Konstellationen geben Identität, ohne den Run-Core zu ersetzen.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E7BB252-454F-4379-A839-1E182695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RECHERCHE-LEITLINIE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Die besten Vorbilder reduzieren nicht die Macht der Builds, sondern die Menge gleichzeitig sichtbarer Entscheidungen.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02CB4-6857-42BF-95E0-3855ED7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95B"/>
          </a:solidFill>
          <a:ln xmlns:a="http://schemas.openxmlformats.org/drawingml/2006/main" w="0">
            <a:solidFill>
              <a:srgbClr val="E5B9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63283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15297CE-9BD5-4891-82DF-DB4C291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B253263-43C2-4EA8-B7E6-F8A0F7E6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Das neue Bedienmodell: drei Ebenen, keine dritte Taste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034762C-BCAE-4C32-BB0A-C440AF99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01 · ORBITKLINGE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Automatisch aktiv. Sie bleibt das Kernelement jedes Charakters.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33DDCF0-C1EE-4EAA-9B24-E8BCF78B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02 · AKTIV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Die gewählte Hauptmacht. Sie erhält Mutation, Passiv und Evolution.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4A9B92B-0F0E-4076-9F02-49E8DC19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03 · AKTIV 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Optionaler Utility-Slot. Hilfreich, aber nicht der zweite komplette Baum.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863639E-FE67-4653-BA33-800F749B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SUPER = EVOLUTION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Lichtbahn und ähnliche Extra-Tasten entfallen. Die Supermacht verwandelt Aktiv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139B6-BEC0-42E7-90AA-83A6AB58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ECCC1-C755-4AEB-B52B-43B5FCCF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590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3ABF4-D558-4C63-BED5-723D218B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3355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6B25F-BB2D-4A02-B436-2623F723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8FF"/>
          </a:solidFill>
          <a:ln xmlns:a="http://schemas.openxmlformats.org/drawingml/2006/main" w="0">
            <a:solidFill>
              <a:srgbClr val="8C68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12F72-3476-4BB5-9380-D23F95F5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BF87"/>
          </a:solidFill>
          <a:ln xmlns:a="http://schemas.openxmlformats.org/drawingml/2006/main" w="0">
            <a:solidFill>
              <a:srgbClr val="4ABF8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KEINE 3</a:t>
            </a:r>
          </a:p>
        </p:txBody>
      </p:sp>
    </p:spTree>
    <p:extLst>
      <p:ext uri="{BB962C8B-B14F-4D97-AF65-F5344CB8AC3E}">
        <p14:creationId xmlns:p14="http://schemas.microsoft.com/office/powerpoint/2010/main" val="2559207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79EC5E5-E421-4008-B463-CDD39906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0A2C640-7BC6-4DBD-94BB-71575810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Der Orbitpfad: acht Etappen, zwei echte Verzweigungen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7A2CB1A-C07D-4530-AAF9-404A56E9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Orbitkrone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eine große Abschluss-Synergie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EC17153F-63F3-4707-9CE2-278B7E81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Evolution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Aktiv 1 wird zur Supermacht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852760F2-420D-4B83-8165-6D98D3E2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Meisterschaft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max. 2 spürbare Schritte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481FC63A-7306-48B0-ABE4-E75EA388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Charakterhaltung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Licht- oder Leerenstil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935107F-1304-4C77-9045-B751A260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Klingenform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Dualorbit oder Präzisionsbahn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F97D9F0A-56BC-40DC-8AC9-0BB2E2FA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Hauptmacht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Aktiv 1 als Run-Schwerpunkt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E2DA3ED3-7C55-4324-B246-E1CDE6A5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Mutation A/B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Verhalten statt Prozentwert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CF9736A1-5F97-485B-B5E7-1D6BB90C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Partnerpassiv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max. 2 mechanische Ränge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1D3EA-7237-4030-8133-20011783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B0254-7712-47D4-9651-E68E71A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66925"/>
            <a:ext cx="881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DD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6555A-9381-4A01-82F0-2CA8CFDD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66925"/>
            <a:ext cx="0" cy="1952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DD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FC1F7-96DA-4932-A4AA-49E9915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19550"/>
            <a:ext cx="881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DD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BA1CC-9AD1-4CF7-83B0-9B3990CD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33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B95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E181D-C4D6-4147-8C15-3A399FC7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33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B95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778FA-DE4F-4312-9D54-7A0266D7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10950-DED7-4895-A4BD-7DAD2E69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33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DDC9F-A7D8-431E-9F67-F3106821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86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BF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16663-F2E5-4DA9-B73C-7D775CAE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B5614-81EC-45DC-963C-9E7B364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86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D2B8F-002D-49FC-A862-B353A5AD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845395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319EF94-C332-4592-B9BB-9B6AE6C4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2493510-B10E-4137-B338-AE6D5239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Der Spieler versteht den Knoten, bevor er ihn anklickt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5841AA92-0678-4527-94B5-2B91525F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0B7A0D5-6DCA-41B1-A15D-9FD272E2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LESEN
Symbol + Name + Effekt in einem Blick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F7262F4-81CB-4B60-9CD3-CC8890E0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20–24 px Symbol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keine 7–8 px Mini-Badges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verfügbar = Gold, gekauft = Grün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05EB173-D6E0-4875-9845-6A1AAAA3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C8FDC43B-D579-4802-9600-53AD960E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KAUFEN
Ein Tap kauft; letzter Kauf bleibt widerrufbar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135098E-687D-4BFC-B300-EA7E6E1A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kein Bestätigungsdialog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Undo bis zum Schließen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gesperrt = dunkel, Grund sichtbar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445F2AE-9011-42E3-904C-09D646D6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INTERAKTIONSREGEL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Jeder Knoten zeigt Symbol, Kurzname und eine konkrete Wirkungszeile. Detailtexte sind Hilfe, nicht Voraussetzung.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Der Pfad zeigt nur die aktuelle Stufe und die nächste Nachbarschaft. Gekaufte Geschichte bleibt sichtbar.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11F8E-5AF5-4E71-80BE-3D805B8B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BF87"/>
          </a:solidFill>
          <a:ln xmlns:a="http://schemas.openxmlformats.org/drawingml/2006/main" w="0">
            <a:solidFill>
              <a:srgbClr val="4ABF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85C77-4D68-4908-BFD0-56F61B09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95B"/>
          </a:solidFill>
          <a:ln xmlns:a="http://schemas.openxmlformats.org/drawingml/2006/main" w="0">
            <a:solidFill>
              <a:srgbClr val="E5B9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SOFORT LESBAR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F994D-4BCA-473A-84AE-95959B7E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38475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BF87"/>
          </a:solidFill>
          <a:ln xmlns:a="http://schemas.openxmlformats.org/drawingml/2006/main" w="0">
            <a:solidFill>
              <a:srgbClr val="4ABF8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OHNE REIBUNG</a:t>
            </a:r>
          </a:p>
        </p:txBody>
      </p:sp>
    </p:spTree>
    <p:extLst>
      <p:ext uri="{BB962C8B-B14F-4D97-AF65-F5344CB8AC3E}">
        <p14:creationId xmlns:p14="http://schemas.microsoft.com/office/powerpoint/2010/main" val="9678066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54FE84E-A1F1-4E58-BF77-1E681E8E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B166E99-FC2F-4DBD-B667-8E4C4B1C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72CB1C9-391F-40FC-A31C-F0474C4A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A6F8116-8FEA-49BA-97E0-4949AB0D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30B08510-0EBF-411F-830D-DC48B441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Die neue Punktökonomie macht jedes Level bedeutsam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8CB6114-3090-49E7-B7BB-EFD31F15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ausgebbare Punkte
bis Welle 30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182A4C0-779A-4C3C-83A3-8ECFD54E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Alternativen
pro Wahlstufe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FF118435-2538-4923-9191-4E3D7007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Knoten im
kompletten Pfad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C4B4338-DB66-43ED-B6EA-54D7B36E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4ABF87"/>
                </a:solidFill>
                <a:latin typeface="Arial"/>
                <a:ea typeface="Arial"/>
                <a:cs typeface="Arial"/>
              </a:rPr>
              <a:t>14–16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E44F95A-C1B8-40EE-8AFC-269F6F72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12–14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2AE88CB-028B-40F2-A01E-5952A925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E5B95B"/>
                </a:solidFill>
                <a:latin typeface="Arial"/>
                <a:ea typeface="Arial"/>
                <a:cs typeface="Arial"/>
              </a:rPr>
              <a:t>≤ 2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CDFA812-9E26-4F86-9C7D-64ABCB29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ZIELKORRIDOR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Ein kompletter Standardlauf endet mit einem klaren Build, nicht mit einem abgearbeiteten Brett. Jeder Punkt soll eine Entscheidung oder spürbare Mechanik auslösen.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9BF1D-3FD2-4805-AC1B-9BD448FF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BF87"/>
          </a:solidFill>
          <a:ln xmlns:a="http://schemas.openxmlformats.org/drawingml/2006/main" w="0">
            <a:solidFill>
              <a:srgbClr val="4ABF8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70039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442692C-0A39-4084-9DAE-8D476668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7FB06E9-47DF-4555-9BAD-E5022FFE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Das Blade bleibt der Kern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3CDF5982-EF72-4B0F-996A-73A952D6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743C0F92-0167-4D36-A550-5A07E22D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Zwei Charaktere,
zwei Spielgefühle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LICHTHÜTER
Start: Fokus, Barriere, Kontrolle
Pfad: Wächter oder Strahlenorbit
LEERENKLINGE
Start: Risiko, Tempo, Schaden
Pfad: Verschlinger oder Abgrund
Keine zusätzliche Signaturtaste. Die Haltung verändert Klinge und Hauptmacht.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29d4a977d4bb6"/>
          <a:srcRect xmlns:a="http://schemas.openxmlformats.org/drawingml/2006/main" l="17037" t="0" r="170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54397-F261-478B-961F-E08FD142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8FF"/>
          </a:solidFill>
          <a:ln xmlns:a="http://schemas.openxmlformats.org/drawingml/2006/main" w="0">
            <a:solidFill>
              <a:srgbClr val="8C68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01906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FF53AD3-0A44-4E4A-A4CA-E4EE3245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A9102FAD-325D-4CF7-93E9-FF4E12A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6A8AB77-43D1-4B49-A444-20336980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F75D29C2-F8B3-4629-9253-3A07FA70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5A79051-55E3-470C-9730-701B7C2C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Die Werkstatt braucht Breite statt weiterer Prozentstufen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E6524AC-A88A-451F-9385-FC341900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Käufe
insgesamt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3A0A7A8-9AEF-43BF-8B4B-5CB7DC69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frühe, klar
eigenständige Upgrades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A708052-7136-401F-988A-6CBAD713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Fragmente bis
zum Vollausbau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11C99DB-DFBC-40F6-A34F-80F9AA52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E4646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98B09D7-9DC5-4046-9ABF-4C2E62A2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E5B95B"/>
                </a:solidFill>
                <a:latin typeface="Arial"/>
                <a:ea typeface="Arial"/>
                <a:cs typeface="Arial"/>
              </a:rPr>
              <a:t>≈13,5k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C99D9FB-FC9C-4C56-9970-5004F16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59EC63D5-838B-4D17-80A8-237BB7A3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IST-ZUSTAND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Der frühe zweite Slot und der Startimpuls sind echte Vorfreude. Danach bleibt hauptsächlich dieselbe Begleiterleiter — teuer, aber inhaltlich schmal.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B68D7-224E-4137-9AF6-DEBAB582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464"/>
          </a:solidFill>
          <a:ln xmlns:a="http://schemas.openxmlformats.org/drawingml/2006/main" w="0">
            <a:solidFill>
              <a:srgbClr val="E4646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73828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C841426-A0E5-4BD9-8ED2-F980F662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37CF419-4E6D-4B8A-86FD-73257AB5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Werkstatt v2: ein Hangar voller Projekte, kein zweiter Skilltree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B83983FC-55D5-492E-8AA1-0BF1DC6B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CA5A83F-04D5-461F-ACDB-58F1F65D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Blaupausen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Neue Mächte, Klingenformen und spätere Charaktere werden als Möglichkeiten freigeschaltet.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76A809A2-4BFF-4493-B65C-D4F72E37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37EA0AE-82BA-4FA2-ACE1-3709E393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Kernsysteme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Zweiter Aktivslot, Startimpuls, Loadout-Komfort — einmalig und klar.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9F56A2E9-0881-4A37-A0D4-EDB1838E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022870BD-7D03-4636-A31D-D8396195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Kosmetik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Klingenfarben, Trails, Orbitformen und Hangar-Optik als langfristiger, fairer Sink.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9EDFECB8-561D-4BBD-9017-ACBE786C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B383EDD5-7E82-46FC-ABA3-8C5A2D45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Begleiter-Meilensteine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Aufheben → Schießen → Zielpriorität → Schildpuls → Überladung. Jeder Rang ist eine Mechanik.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FB5D569-AEFB-4316-910E-9C307978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LANGZEIT-SYSTEM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Ein Bildschirm, 12–16 bedeutungsvolle Projekte über etwa 8–12 Läufe. Neue Optionen dominieren; kleine Boni bleiben selten und gedeckelt.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69298-4853-414A-8CD8-C3C69B05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95B"/>
          </a:solidFill>
          <a:ln xmlns:a="http://schemas.openxmlformats.org/drawingml/2006/main" w="0">
            <a:solidFill>
              <a:srgbClr val="E5B9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19410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37CBC76-EB21-4DE3-964B-9E6AB53D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889D74E-D64B-4E5A-986D-9376A51B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Umsetzungsreihenfolge: erst Kernschleife, dann Langzeitspiel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8A9E075-5EC7-4896-A3BB-0F2A168B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69A9419-27E2-4C7C-AAF4-F3E31446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1343690-8A0C-47AE-9BCA-53B072AE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4AB1783-312A-410B-A1AB-2931898B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367B4A1-ADC1-485E-949C-488E59F1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7172C4E-26A4-4C76-9A65-17FEE2AB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D2C7769-D030-4516-8F0E-B94A3688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Pacing abstimmen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XP auf 14–16 Punkte kalibrieren. Zwei Charaktere und Evolutionspfade in vollständigen Runs prüfen.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4212A03F-B389-4461-A384-471A981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Orbitpfad bauen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Taste 3 und Lichtbahn entfernen. Neue Knotendaten, 12–14 Knoten, klare Symbole und Undo.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EBF9E5B-20DB-4EED-B77F-BF000D61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Werkstatt erweitern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Projektstruktur, Blaupausen, mechanische Begleiterstufen und Kosmetik-Sinks ergänzen.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3D2E1-5376-47AD-9557-823678EE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01397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EA36DFCD-E011-4D35-A077-48C280CB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Ein klarer Run.
Ein lohnender Hangar.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A5A89E6-EDC7-4C59-A6C2-DCDFE84A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Klinge bleibt Kern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Macht wächst im Orbitpfad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A0D12"/>
                </a:solidFill>
                <a:latin typeface="Arial"/>
                <a:ea typeface="Arial"/>
                <a:cs typeface="Arial"/>
              </a:rPr>
              <a:t>Langzeitspaß wächst in Projekten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DE7C2A0-42E3-4515-8E7B-E8F3375F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ORBITBLADE V5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C305D-BE2B-4761-84EE-65FD9B48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BF87"/>
          </a:solidFill>
          <a:ln xmlns:a="http://schemas.openxmlformats.org/drawingml/2006/main" w="0">
            <a:solidFill>
              <a:srgbClr val="4ABF8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293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2026-08-12T14:05:33.2580000Z</dcterms:created>
  <dcterms:modified xsi:type="dcterms:W3CDTF">2026-08-12T14:05:33.2580000Z</dcterms:modified>
</coreProperties>
</file>